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182F4E"/>
          </a:solidFill>
          <a:ln>
            <a:solidFill>
              <a:srgbClr val="182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1005840"/>
            <a:ext cx="2011680" cy="960120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0" y="2194560"/>
            <a:ext cx="1508760" cy="960120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0" y="3383280"/>
            <a:ext cx="2103120" cy="960120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4572000"/>
            <a:ext cx="1463040" cy="960120"/>
          </a:xfrm>
          <a:prstGeom prst="roundRect">
            <a:avLst/>
          </a:prstGeom>
          <a:solidFill>
            <a:srgbClr val="F09B40"/>
          </a:solidFill>
          <a:ln>
            <a:solidFill>
              <a:srgbClr val="F0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731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1">
                <a:solidFill>
                  <a:srgbClr val="36BED2"/>
                </a:solidFill>
                <a:latin typeface="Aptos"/>
              </a:rPr>
              <a:t>TECH CHALLENGE • ENGENHARIA DE DADOS /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7680960" cy="10972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State of Data Brasil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97480"/>
            <a:ext cx="7132320" cy="8686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100" b="0">
                <a:solidFill>
                  <a:srgbClr val="D7E1EF"/>
                </a:solidFill>
                <a:latin typeface="Aptos"/>
              </a:rPr>
              <a:t>Transformando pesquisas em indicadores analíticos na 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86200"/>
            <a:ext cx="685800" cy="54864"/>
          </a:xfrm>
          <a:prstGeom prst="rect">
            <a:avLst/>
          </a:prstGeom>
          <a:solidFill>
            <a:srgbClr val="F09B40"/>
          </a:solidFill>
          <a:ln>
            <a:solidFill>
              <a:srgbClr val="F0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704088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Arquitetura Bronze • Silver • 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80760"/>
            <a:ext cx="704088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B9C7DB"/>
                </a:solidFill>
                <a:latin typeface="Aptos"/>
              </a:rPr>
              <a:t>Análise das edições 2023, 2024 e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1">
                <a:solidFill>
                  <a:srgbClr val="306FDC"/>
                </a:solidFill>
                <a:latin typeface="Aptos"/>
              </a:rPr>
              <a:t>01 • RESUMO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500" b="1">
                <a:solidFill>
                  <a:srgbClr val="0F1E37"/>
                </a:solidFill>
                <a:latin typeface="Aptos"/>
              </a:rPr>
              <a:t>O que os dados sinalizam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9848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647184"/>
                </a:solidFill>
                <a:latin typeface="Aptos"/>
              </a:rPr>
              <a:t>Leitura executiva dos indicadores Gold; percentuais conforme os denominadores de cada tabela.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02920" cy="41148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/>
            <a:r>
              <a:rPr sz="900" b="1">
                <a:solidFill>
                  <a:srgbClr val="647184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1417320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74519"/>
            <a:ext cx="320040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Adoção de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21991"/>
            <a:ext cx="3200400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Uso declarado entre respostas válidas: 80,83% (2023) → 98,14% (2025–2026).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64008" cy="1417320"/>
          </a:xfrm>
          <a:prstGeom prst="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74519"/>
            <a:ext cx="320040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Stack de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21991"/>
            <a:ext cx="3200400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Em 2025–2026, Python: 92,03%; SQL: 84,16% entre respostas válidas.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830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83080"/>
            <a:ext cx="64008" cy="1417320"/>
          </a:xfrm>
          <a:prstGeom prst="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320040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Modelo de trabalho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21991"/>
            <a:ext cx="3200400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Remoto e híbrido quase empatam em 2025–2026: 39,71% e 39,53%.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5349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520440"/>
            <a:ext cx="64008" cy="1463040"/>
          </a:xfrm>
          <a:prstGeom prst="rect">
            <a:avLst/>
          </a:prstGeom>
          <a:solidFill>
            <a:srgbClr val="F09B40"/>
          </a:solidFill>
          <a:ln>
            <a:solidFill>
              <a:srgbClr val="F0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611880"/>
            <a:ext cx="502920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Perfil e concentração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959352"/>
            <a:ext cx="5029200" cy="9601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A amostra é majoritariamente masculina e concentrada no Sudeste (64,42% em 2025–2026).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520440"/>
            <a:ext cx="5349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520440"/>
            <a:ext cx="64008" cy="1463040"/>
          </a:xfrm>
          <a:prstGeom prst="rect">
            <a:avLst/>
          </a:prstGeom>
          <a:solidFill>
            <a:srgbClr val="D3525B"/>
          </a:solidFill>
          <a:ln>
            <a:solidFill>
              <a:srgbClr val="D3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02920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Como interpretar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59352"/>
            <a:ext cx="5029200" cy="9601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Há não resposta relevante e possíveis diferenças entre questionários/edições. Os resultados descrevem respondentes.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0789920" cy="5943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1">
                <a:solidFill>
                  <a:srgbClr val="0F1E37"/>
                </a:solidFill>
                <a:latin typeface="Aptos"/>
              </a:rPr>
              <a:t>Mensagem central: a pesquisa sugere rápida normalização do uso de IA e fortalecimento de Python, com ressalvas de cobertura e comparabilidade.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647184"/>
                </a:solidFill>
                <a:latin typeface="Aptos"/>
              </a:rPr>
              <a:t>TECH CHALLENGE • STATE OF DATA BRASIL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1">
                <a:solidFill>
                  <a:srgbClr val="306FDC"/>
                </a:solidFill>
                <a:latin typeface="Aptos"/>
              </a:rPr>
              <a:t>02 • PLATAFORMA ANALÍTICA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500" b="1">
                <a:solidFill>
                  <a:srgbClr val="0F1E37"/>
                </a:solidFill>
                <a:latin typeface="Aptos"/>
              </a:rPr>
              <a:t>Pipeline AWS: do dado bruto ao consumo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9848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647184"/>
                </a:solidFill>
                <a:latin typeface="Aptos"/>
              </a:rPr>
              <a:t>Arquitetura lógica representada no projeto.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02920" cy="41148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/>
            <a:r>
              <a:rPr sz="900" b="1">
                <a:solidFill>
                  <a:srgbClr val="647184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350008"/>
            <a:ext cx="1453896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0F1E37"/>
                </a:solidFill>
                <a:latin typeface="Aptos"/>
              </a:rPr>
              <a:t>Amazon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51760"/>
            <a:ext cx="1453896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900" b="0">
                <a:solidFill>
                  <a:srgbClr val="647184"/>
                </a:solidFill>
                <a:latin typeface="Aptos"/>
              </a:rPr>
              <a:t>Bronze • CSV original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240280"/>
            <a:ext cx="1783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350008"/>
            <a:ext cx="1636776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0F1E37"/>
                </a:solidFill>
                <a:latin typeface="Aptos"/>
              </a:rPr>
              <a:t>AWS Glue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651760"/>
            <a:ext cx="1636776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900" b="0">
                <a:solidFill>
                  <a:srgbClr val="647184"/>
                </a:solidFill>
                <a:latin typeface="Aptos"/>
              </a:rPr>
              <a:t>01_bronze_para_silver.py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24028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2350008"/>
            <a:ext cx="1453896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0F1E37"/>
                </a:solidFill>
                <a:latin typeface="Aptos"/>
              </a:rPr>
              <a:t>Amazon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651760"/>
            <a:ext cx="1453896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900" b="0">
                <a:solidFill>
                  <a:srgbClr val="647184"/>
                </a:solidFill>
                <a:latin typeface="Aptos"/>
              </a:rPr>
              <a:t>Silver • Parquet tratado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2240280"/>
            <a:ext cx="1783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2350008"/>
            <a:ext cx="1636776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0F1E37"/>
                </a:solidFill>
                <a:latin typeface="Aptos"/>
              </a:rPr>
              <a:t>AWS Glue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2651760"/>
            <a:ext cx="1636776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900" b="0">
                <a:solidFill>
                  <a:srgbClr val="647184"/>
                </a:solidFill>
                <a:latin typeface="Aptos"/>
              </a:rPr>
              <a:t>02_silver_para_gold.py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240280"/>
            <a:ext cx="1554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2350008"/>
            <a:ext cx="1408176" cy="25603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0F1E37"/>
                </a:solidFill>
                <a:latin typeface="Aptos"/>
              </a:rPr>
              <a:t>Amazon 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651760"/>
            <a:ext cx="1408176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900" b="0">
                <a:solidFill>
                  <a:srgbClr val="647184"/>
                </a:solidFill>
                <a:latin typeface="Aptos"/>
              </a:rPr>
              <a:t>Gold • 8 indicadores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86000" y="2724912"/>
            <a:ext cx="502920" cy="0"/>
          </a:xfrm>
          <a:prstGeom prst="line">
            <a:avLst/>
          </a:prstGeom>
          <a:ln w="25400">
            <a:solidFill>
              <a:srgbClr val="306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2724912"/>
            <a:ext cx="411480" cy="0"/>
          </a:xfrm>
          <a:prstGeom prst="line">
            <a:avLst/>
          </a:prstGeom>
          <a:ln w="25400">
            <a:solidFill>
              <a:srgbClr val="306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83680" y="2724912"/>
            <a:ext cx="411480" cy="0"/>
          </a:xfrm>
          <a:prstGeom prst="line">
            <a:avLst/>
          </a:prstGeom>
          <a:ln w="25400">
            <a:solidFill>
              <a:srgbClr val="306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78240" y="2724912"/>
            <a:ext cx="411480" cy="0"/>
          </a:xfrm>
          <a:prstGeom prst="line">
            <a:avLst/>
          </a:prstGeom>
          <a:ln w="25400">
            <a:solidFill>
              <a:srgbClr val="306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" y="3703320"/>
            <a:ext cx="3017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3703320"/>
            <a:ext cx="64008" cy="1005840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794759"/>
            <a:ext cx="2697479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Jobs especializados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142231"/>
            <a:ext cx="2697479" cy="5029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03_uso_ia.py • 04_tecnologias.py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3703320"/>
            <a:ext cx="3017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0560" y="3703320"/>
            <a:ext cx="64008" cy="1005840"/>
          </a:xfrm>
          <a:prstGeom prst="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794759"/>
            <a:ext cx="2697479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Catálogo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142231"/>
            <a:ext cx="2697479" cy="5029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AWS Glue Data Catalog • techchallenge_gold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703320"/>
            <a:ext cx="3017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703320"/>
            <a:ext cx="64008" cy="1005840"/>
          </a:xfrm>
          <a:prstGeom prst="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794759"/>
            <a:ext cx="2697479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Consulta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142231"/>
            <a:ext cx="2697479" cy="5029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Amazon Athena • SQL sobre tabelas Gold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2423160" y="3200400"/>
            <a:ext cx="0" cy="502920"/>
          </a:xfrm>
          <a:prstGeom prst="line">
            <a:avLst/>
          </a:prstGeom>
          <a:ln w="25400">
            <a:solidFill>
              <a:srgbClr val="36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989320" y="3200400"/>
            <a:ext cx="0" cy="502920"/>
          </a:xfrm>
          <a:prstGeom prst="line">
            <a:avLst/>
          </a:prstGeom>
          <a:ln w="25400">
            <a:solidFill>
              <a:srgbClr val="1D9B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555480" y="3200400"/>
            <a:ext cx="0" cy="502920"/>
          </a:xfrm>
          <a:prstGeom prst="line">
            <a:avLst/>
          </a:prstGeom>
          <a:ln w="25400">
            <a:solidFill>
              <a:srgbClr val="306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0F1E37"/>
                </a:solidFill>
                <a:latin typeface="Aptos"/>
              </a:rPr>
              <a:t>Bronze preserva a origem • Silver padroniza e trata • Gold organiza indicadores prontos para análise.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900" b="0">
                <a:solidFill>
                  <a:srgbClr val="647184"/>
                </a:solidFill>
                <a:latin typeface="Aptos"/>
              </a:rPr>
              <a:t>Nomes de buckets não foram incluídos porque não constam nos dados recebidos.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647184"/>
                </a:solidFill>
                <a:latin typeface="Aptos"/>
              </a:rPr>
              <a:t>TECH CHALLENGE • STATE OF DATA BRASIL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1">
                <a:solidFill>
                  <a:srgbClr val="306FDC"/>
                </a:solidFill>
                <a:latin typeface="Aptos"/>
              </a:rPr>
              <a:t>03 • BASE E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500" b="1">
                <a:solidFill>
                  <a:srgbClr val="0F1E37"/>
                </a:solidFill>
                <a:latin typeface="Aptos"/>
              </a:rPr>
              <a:t>Três edições, múltiplos denominadores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9848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647184"/>
                </a:solidFill>
                <a:latin typeface="Aptos"/>
              </a:rPr>
              <a:t>Cada indicador pode ter um total válido diferente; compare percentuais com atenção ao denominador.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02920" cy="41148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/>
            <a:r>
              <a:rPr sz="900" b="1">
                <a:solidFill>
                  <a:srgbClr val="647184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927555" cy="6172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2117750"/>
            <a:ext cx="2777947" cy="345643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8" y="2117750"/>
            <a:ext cx="2450612" cy="345643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30875" y="1920240"/>
            <a:ext cx="850392" cy="6172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5.293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1927555" cy="6172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2940710"/>
            <a:ext cx="2777947" cy="345643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940710"/>
            <a:ext cx="2415425" cy="345643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0875" y="2743200"/>
            <a:ext cx="850392" cy="6172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5.217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1927555" cy="6172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2025–2026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7208" y="3763670"/>
            <a:ext cx="2777947" cy="345643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07208" y="3763670"/>
            <a:ext cx="1618154" cy="345643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0875" y="3566160"/>
            <a:ext cx="850392" cy="6172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3.495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82880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1828800"/>
            <a:ext cx="64008" cy="960120"/>
          </a:xfrm>
          <a:prstGeom prst="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920240"/>
            <a:ext cx="406908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Origem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267712"/>
            <a:ext cx="406908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Pesquisas State of Data Brasil 2023, 2024 e 2025–2026.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297180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2971800"/>
            <a:ext cx="64008" cy="960120"/>
          </a:xfrm>
          <a:prstGeom prst="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3063240"/>
            <a:ext cx="406908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Processamento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410712"/>
            <a:ext cx="406908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CSV em Bronze; padronização em Silver; 8 tabelas analíticas em Gold.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411480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9440" y="4114800"/>
            <a:ext cx="64008" cy="1097280"/>
          </a:xfrm>
          <a:prstGeom prst="rect">
            <a:avLst/>
          </a:prstGeom>
          <a:solidFill>
            <a:srgbClr val="F09B40"/>
          </a:solidFill>
          <a:ln>
            <a:solidFill>
              <a:srgbClr val="F0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4206240"/>
            <a:ext cx="406908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Regra de leitura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553712"/>
            <a:ext cx="4069080" cy="594359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IA e tecnologias usam respostas válidas; não respostas e conflitos são tratados à parte.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983480"/>
            <a:ext cx="56692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200" b="1">
                <a:solidFill>
                  <a:srgbClr val="0F1E37"/>
                </a:solidFill>
                <a:latin typeface="Aptos"/>
              </a:rPr>
              <a:t>Participantes por edição (tabela de uso de IA)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5778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647184"/>
                </a:solidFill>
                <a:latin typeface="Aptos"/>
              </a:rPr>
              <a:t>5.293 (2023) • 5.217 (2024) • 3.495 (2025–2026).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647184"/>
                </a:solidFill>
                <a:latin typeface="Aptos"/>
              </a:rPr>
              <a:t>TECH CHALLENGE • STATE OF DATA BRASIL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1">
                <a:solidFill>
                  <a:srgbClr val="306FDC"/>
                </a:solidFill>
                <a:latin typeface="Aptos"/>
              </a:rPr>
              <a:t>04 • PERFIL DOS RESPONDENTES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500" b="1">
                <a:solidFill>
                  <a:srgbClr val="0F1E37"/>
                </a:solidFill>
                <a:latin typeface="Aptos"/>
              </a:rPr>
              <a:t>Predominância masculina e concentração no Sudeste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9848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647184"/>
                </a:solidFill>
                <a:latin typeface="Aptos"/>
              </a:rPr>
              <a:t>Percentuais conforme as tabelas Gold.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02920" cy="41148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/>
            <a:r>
              <a:rPr sz="900" b="1">
                <a:solidFill>
                  <a:srgbClr val="647184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480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868680"/>
          </a:xfrm>
          <a:prstGeom prst="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16052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Masculino • 2025–2026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67712"/>
            <a:ext cx="4160520" cy="365759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77.45% das respostas registradas para gênero.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493776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Participação masculina por edição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1709928" cy="3886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2023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3179" y="3370478"/>
            <a:ext cx="2464308" cy="217627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83179" y="3370478"/>
            <a:ext cx="1850695" cy="217627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3246120"/>
            <a:ext cx="754380" cy="3886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75.1%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64279"/>
            <a:ext cx="1709928" cy="3886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2024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83179" y="3888638"/>
            <a:ext cx="2464308" cy="217627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83179" y="3888638"/>
            <a:ext cx="1874352" cy="217627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3207" y="3764279"/>
            <a:ext cx="754380" cy="3886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76.1%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82440"/>
            <a:ext cx="1709928" cy="3886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2025–2026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83179" y="4406798"/>
            <a:ext cx="2464308" cy="217627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83179" y="4406798"/>
            <a:ext cx="1908606" cy="217627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7" y="4282440"/>
            <a:ext cx="754380" cy="3886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77.5%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828800"/>
            <a:ext cx="457200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Participação do Sudeste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194560"/>
            <a:ext cx="1709928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2023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8140" y="2340864"/>
            <a:ext cx="2464308" cy="256031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78140" y="2340864"/>
            <a:ext cx="2017118" cy="256031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88168" y="2194560"/>
            <a:ext cx="75438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61.4%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804160"/>
            <a:ext cx="1709928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2024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78140" y="2950464"/>
            <a:ext cx="2464308" cy="256031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78140" y="2950464"/>
            <a:ext cx="2027632" cy="256031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2804160"/>
            <a:ext cx="75438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61.7%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413760"/>
            <a:ext cx="1709928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2025–2026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78140" y="3560064"/>
            <a:ext cx="2464308" cy="256031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78140" y="3560064"/>
            <a:ext cx="2116676" cy="256031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88168" y="3413760"/>
            <a:ext cx="75438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64.4%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480560"/>
            <a:ext cx="4846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480560"/>
            <a:ext cx="64008" cy="1005840"/>
          </a:xfrm>
          <a:prstGeom prst="rect">
            <a:avLst/>
          </a:prstGeom>
          <a:solidFill>
            <a:srgbClr val="F09B40"/>
          </a:solidFill>
          <a:ln>
            <a:solidFill>
              <a:srgbClr val="F0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572000"/>
            <a:ext cx="452628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Leitura de negócio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919472"/>
            <a:ext cx="4526280" cy="5029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A concentração regional e de gênero deve ser considerada ao interpretar representatividade e planejar iniciativas de inclusão.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647184"/>
                </a:solidFill>
                <a:latin typeface="Aptos"/>
              </a:rPr>
              <a:t>TECH CHALLENGE • STATE OF DATA BRASIL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1">
                <a:solidFill>
                  <a:srgbClr val="306FDC"/>
                </a:solidFill>
                <a:latin typeface="Aptos"/>
              </a:rPr>
              <a:t>05 • PERFIL PROFISSIONAL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500" b="1">
                <a:solidFill>
                  <a:srgbClr val="0F1E37"/>
                </a:solidFill>
                <a:latin typeface="Aptos"/>
              </a:rPr>
              <a:t>Funções analíticas e distribuição de senioridade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9848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647184"/>
                </a:solidFill>
                <a:latin typeface="Aptos"/>
              </a:rPr>
              <a:t>Categorias de cargo mais representativas em cada edição.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02920" cy="41148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/>
            <a:r>
              <a:rPr sz="900" b="1">
                <a:solidFill>
                  <a:srgbClr val="647184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0040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1">
                <a:solidFill>
                  <a:srgbClr val="0F1E37"/>
                </a:solidFill>
                <a:latin typeface="Aptos"/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134770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0">
                <a:solidFill>
                  <a:srgbClr val="232D3C"/>
                </a:solidFill>
                <a:latin typeface="Aptos"/>
              </a:rPr>
              <a:t>Analista de Dados/Data Ana…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99665" y="2359152"/>
            <a:ext cx="1635404" cy="288036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99665" y="2359152"/>
            <a:ext cx="1282157" cy="288036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0790" y="2194560"/>
            <a:ext cx="500634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23.5%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1134770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0">
                <a:solidFill>
                  <a:srgbClr val="232D3C"/>
                </a:solidFill>
                <a:latin typeface="Aptos"/>
              </a:rPr>
              <a:t>Cientista de Dados/Data Sc…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99665" y="3044952"/>
            <a:ext cx="1635404" cy="288036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99665" y="3044952"/>
            <a:ext cx="970885" cy="288036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0790" y="2880360"/>
            <a:ext cx="500634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17.8%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1134770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0">
                <a:solidFill>
                  <a:srgbClr val="232D3C"/>
                </a:solidFill>
                <a:latin typeface="Aptos"/>
              </a:rPr>
              <a:t>Engenharia e Arquitetura 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99665" y="3730752"/>
            <a:ext cx="1635404" cy="288036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99665" y="3730752"/>
            <a:ext cx="966524" cy="288036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0790" y="3566160"/>
            <a:ext cx="500634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17.7%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828800"/>
            <a:ext cx="320040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1">
                <a:solidFill>
                  <a:srgbClr val="0F1E37"/>
                </a:solidFill>
                <a:latin typeface="Aptos"/>
              </a:rPr>
              <a:t>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194560"/>
            <a:ext cx="1134770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0">
                <a:solidFill>
                  <a:srgbClr val="232D3C"/>
                </a:solidFill>
                <a:latin typeface="Aptos"/>
              </a:rPr>
              <a:t>Analista de Dados/Data Ana…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02986" y="2359152"/>
            <a:ext cx="1635404" cy="288036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02986" y="2359152"/>
            <a:ext cx="1362836" cy="288036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84110" y="2194560"/>
            <a:ext cx="500634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25.1%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880360"/>
            <a:ext cx="1134770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0">
                <a:solidFill>
                  <a:srgbClr val="232D3C"/>
                </a:solidFill>
                <a:latin typeface="Aptos"/>
              </a:rPr>
              <a:t>Cientista de Dados/Data Sc…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02986" y="3044952"/>
            <a:ext cx="1635404" cy="288036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02986" y="3044952"/>
            <a:ext cx="977959" cy="288036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4110" y="2880360"/>
            <a:ext cx="500634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18.0%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566160"/>
            <a:ext cx="1134770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0">
                <a:solidFill>
                  <a:srgbClr val="232D3C"/>
                </a:solidFill>
                <a:latin typeface="Aptos"/>
              </a:rPr>
              <a:t>Engenharia e Arquitetura d…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2986" y="3730752"/>
            <a:ext cx="1635404" cy="288036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02986" y="3730752"/>
            <a:ext cx="940993" cy="288036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4110" y="3566160"/>
            <a:ext cx="500634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17.3%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1828800"/>
            <a:ext cx="320040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1">
                <a:solidFill>
                  <a:srgbClr val="0F1E37"/>
                </a:solidFill>
                <a:latin typeface="Aptos"/>
              </a:rPr>
              <a:t>2025–2026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194560"/>
            <a:ext cx="1134770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0">
                <a:solidFill>
                  <a:srgbClr val="232D3C"/>
                </a:solidFill>
                <a:latin typeface="Aptos"/>
              </a:rPr>
              <a:t>Analista de Dados/Data Ana…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06306" y="2359152"/>
            <a:ext cx="1635404" cy="288036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06306" y="2359152"/>
            <a:ext cx="1305597" cy="288036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87430" y="2194560"/>
            <a:ext cx="500634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23.9%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2880360"/>
            <a:ext cx="1134770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0">
                <a:solidFill>
                  <a:srgbClr val="232D3C"/>
                </a:solidFill>
                <a:latin typeface="Aptos"/>
              </a:rPr>
              <a:t>Engenharia e Arquitetura d…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6306" y="3044952"/>
            <a:ext cx="1635404" cy="288036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306306" y="3044952"/>
            <a:ext cx="937086" cy="288036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87430" y="2880360"/>
            <a:ext cx="500634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17.2%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3566160"/>
            <a:ext cx="1134770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0">
                <a:solidFill>
                  <a:srgbClr val="232D3C"/>
                </a:solidFill>
                <a:latin typeface="Aptos"/>
              </a:rPr>
              <a:t>Cientista de Dados/Data Sc…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06306" y="3730752"/>
            <a:ext cx="1635404" cy="288036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306306" y="3730752"/>
            <a:ext cx="924003" cy="288036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87430" y="3566160"/>
            <a:ext cx="500634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16.9%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457200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4572000"/>
            <a:ext cx="64008" cy="1005840"/>
          </a:xfrm>
          <a:prstGeom prst="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4663440"/>
            <a:ext cx="480060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Senioridade • 2024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010912"/>
            <a:ext cx="4800600" cy="5029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Sênior 41,20%; Pleno 36,07%; Júnior 22,73%.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57200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4572000"/>
            <a:ext cx="64008" cy="1005840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663440"/>
            <a:ext cx="480060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Senioridade • 2025–2026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010912"/>
            <a:ext cx="4800600" cy="5029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Sênior 34,31%; Pleno 31,03%; Júnior 20,71%; Especialista/Staff+ 13,95%.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647184"/>
                </a:solidFill>
                <a:latin typeface="Aptos"/>
              </a:rPr>
              <a:t>TECH CHALLENGE • STATE OF DATA BRASIL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1">
                <a:solidFill>
                  <a:srgbClr val="306FDC"/>
                </a:solidFill>
                <a:latin typeface="Aptos"/>
              </a:rPr>
              <a:t>06 • MODELO DE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500" b="1">
                <a:solidFill>
                  <a:srgbClr val="0F1E37"/>
                </a:solidFill>
                <a:latin typeface="Aptos"/>
              </a:rPr>
              <a:t>Remoto recua; híbrido se mantém próximo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9848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647184"/>
                </a:solidFill>
                <a:latin typeface="Aptos"/>
              </a:rPr>
              <a:t>Distribuição percentual entre respostas válidas do indicador.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02920" cy="41148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/>
            <a:r>
              <a:rPr sz="900" b="1">
                <a:solidFill>
                  <a:srgbClr val="647184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1">
                <a:solidFill>
                  <a:srgbClr val="0F1E37"/>
                </a:solidFill>
                <a:latin typeface="Aptos"/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88136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Remoto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4539" y="2538374"/>
            <a:ext cx="1568195" cy="281635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34539" y="2538374"/>
            <a:ext cx="1320421" cy="281635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5" y="2377440"/>
            <a:ext cx="4800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46.3%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48000"/>
            <a:ext cx="1088136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Híbrido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34539" y="3208934"/>
            <a:ext cx="1568195" cy="281635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34539" y="3208934"/>
            <a:ext cx="1056964" cy="281635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5" y="3048000"/>
            <a:ext cx="4800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37.1%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18560"/>
            <a:ext cx="1088136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Presencial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34539" y="3879494"/>
            <a:ext cx="1568195" cy="281635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34539" y="3879494"/>
            <a:ext cx="473880" cy="281635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5" y="3718560"/>
            <a:ext cx="4800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16.6%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920240"/>
            <a:ext cx="29260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1">
                <a:solidFill>
                  <a:srgbClr val="0F1E37"/>
                </a:solidFill>
                <a:latin typeface="Aptos"/>
              </a:rPr>
              <a:t>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377440"/>
            <a:ext cx="1088136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Remoto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00700" y="2538374"/>
            <a:ext cx="1568195" cy="281635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00700" y="2538374"/>
            <a:ext cx="1302743" cy="281635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14616" y="2377440"/>
            <a:ext cx="4800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45.7%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048000"/>
            <a:ext cx="1088136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Híbrido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00700" y="3208934"/>
            <a:ext cx="1568195" cy="281635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00700" y="3208934"/>
            <a:ext cx="1084051" cy="281635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14616" y="3048000"/>
            <a:ext cx="4800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38.0%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718560"/>
            <a:ext cx="1088136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Presencial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0700" y="3879494"/>
            <a:ext cx="1568195" cy="281635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00700" y="3879494"/>
            <a:ext cx="464471" cy="281635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14616" y="3718560"/>
            <a:ext cx="4800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16.3%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1920240"/>
            <a:ext cx="29260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1">
                <a:solidFill>
                  <a:srgbClr val="0F1E37"/>
                </a:solidFill>
                <a:latin typeface="Aptos"/>
              </a:rPr>
              <a:t>2025–2026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377440"/>
            <a:ext cx="1088136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Remoto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66860" y="2538374"/>
            <a:ext cx="1568195" cy="281635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66860" y="2538374"/>
            <a:ext cx="1132237" cy="281635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0776" y="2377440"/>
            <a:ext cx="4800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39.7%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048000"/>
            <a:ext cx="1088136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Híbrido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66860" y="3208934"/>
            <a:ext cx="1568195" cy="281635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66860" y="3208934"/>
            <a:ext cx="1127105" cy="281635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0776" y="3048000"/>
            <a:ext cx="4800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39.5%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718560"/>
            <a:ext cx="1088136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Presencial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66860" y="3879494"/>
            <a:ext cx="1568195" cy="281635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166860" y="3879494"/>
            <a:ext cx="591922" cy="281635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0776" y="3718560"/>
            <a:ext cx="48006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20.8%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489204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4892040"/>
            <a:ext cx="64008" cy="868680"/>
          </a:xfrm>
          <a:prstGeom prst="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4983479"/>
            <a:ext cx="448056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Mudança observada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330952"/>
            <a:ext cx="4480560" cy="365759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Remoto: 46,31% (2023) → 39,71% (2025–2026).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489204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4892040"/>
            <a:ext cx="64008" cy="868680"/>
          </a:xfrm>
          <a:prstGeom prst="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4983479"/>
            <a:ext cx="448056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Estabilidade relativa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330952"/>
            <a:ext cx="4480560" cy="365759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Híbrido: 37,07% → 39,53% no mesmo intervalo.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647184"/>
                </a:solidFill>
                <a:latin typeface="Aptos"/>
              </a:rPr>
              <a:t>TECH CHALLENGE • STATE OF DATA BRASIL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1">
                <a:solidFill>
                  <a:srgbClr val="306FDC"/>
                </a:solidFill>
                <a:latin typeface="Aptos"/>
              </a:rPr>
              <a:t>07 • ADOÇÃO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500" b="1">
                <a:solidFill>
                  <a:srgbClr val="0F1E37"/>
                </a:solidFill>
                <a:latin typeface="Aptos"/>
              </a:rPr>
              <a:t>Uso declarado cresce entre respostas válidas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9848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647184"/>
                </a:solidFill>
                <a:latin typeface="Aptos"/>
              </a:rPr>
              <a:t>Respostas conflitantes e não respostas ficam fora do denominador válido.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02920" cy="41148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/>
            <a:r>
              <a:rPr sz="900" b="1">
                <a:solidFill>
                  <a:srgbClr val="647184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176272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Aptos"/>
              </a:rPr>
              <a:t>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59" y="2039112"/>
            <a:ext cx="3136391" cy="288036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959" y="2039112"/>
            <a:ext cx="2414424" cy="288036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1874519"/>
            <a:ext cx="960120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80.83%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2176272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Aptos"/>
              </a:rPr>
              <a:t>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59" y="2724912"/>
            <a:ext cx="3136391" cy="288036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59" y="2724912"/>
            <a:ext cx="2801544" cy="288036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1" y="2560320"/>
            <a:ext cx="960120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93.79%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46120"/>
            <a:ext cx="2176272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Aptos"/>
              </a:rPr>
              <a:t>2025–2026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59" y="3410712"/>
            <a:ext cx="3136391" cy="288036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08959" y="3410712"/>
            <a:ext cx="2931481" cy="288036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1" y="3246120"/>
            <a:ext cx="960120" cy="5143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98.14%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828800"/>
            <a:ext cx="3566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828800"/>
            <a:ext cx="64008" cy="1097280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920240"/>
            <a:ext cx="324612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2025–2026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267712"/>
            <a:ext cx="3246120" cy="594359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98,14% de uso entre respostas válidas (2.062 respostas).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108960"/>
            <a:ext cx="3566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3108960"/>
            <a:ext cx="64008" cy="1097280"/>
          </a:xfrm>
          <a:prstGeom prst="rect">
            <a:avLst/>
          </a:prstGeom>
          <a:solidFill>
            <a:srgbClr val="F09B40"/>
          </a:solidFill>
          <a:ln>
            <a:solidFill>
              <a:srgbClr val="F0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3200400"/>
            <a:ext cx="324612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Não respondeu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547872"/>
            <a:ext cx="3246120" cy="594359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1.389 participantes não responderam à questão de IA em 2025–2026.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34840"/>
            <a:ext cx="1005840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Respostas conflitantes identificadas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846320"/>
            <a:ext cx="2743200" cy="5029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864608"/>
            <a:ext cx="256032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0F1E37"/>
                </a:solidFill>
                <a:latin typeface="Aptos"/>
              </a:rPr>
              <a:t>2023: 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846320"/>
            <a:ext cx="2743200" cy="5029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4864608"/>
            <a:ext cx="256032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0F1E37"/>
                </a:solidFill>
                <a:latin typeface="Aptos"/>
              </a:rPr>
              <a:t>2024: 13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4846320"/>
            <a:ext cx="2743200" cy="5029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864608"/>
            <a:ext cx="256032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0F1E37"/>
                </a:solidFill>
                <a:latin typeface="Aptos"/>
              </a:rPr>
              <a:t>2025–2026: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7784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0">
                <a:solidFill>
                  <a:srgbClr val="647184"/>
                </a:solidFill>
                <a:latin typeface="Aptos"/>
              </a:rPr>
              <a:t>A adoção entre respostas válidas não deve ser confundida com adoção sobre o total de participantes.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647184"/>
                </a:solidFill>
                <a:latin typeface="Aptos"/>
              </a:rPr>
              <a:t>TECH CHALLENGE • STATE OF DATA BRASIL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1">
                <a:solidFill>
                  <a:srgbClr val="306FDC"/>
                </a:solidFill>
                <a:latin typeface="Aptos"/>
              </a:rPr>
              <a:t>08 • 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500" b="1">
                <a:solidFill>
                  <a:srgbClr val="0F1E37"/>
                </a:solidFill>
                <a:latin typeface="Aptos"/>
              </a:rPr>
              <a:t>Python ultrapassa SQL na edição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9848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647184"/>
                </a:solidFill>
                <a:latin typeface="Aptos"/>
              </a:rPr>
              <a:t>Percentual de utilização entre respostas válidas de cada tecnologia.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02920" cy="41148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/>
            <a:r>
              <a:rPr sz="900" b="1">
                <a:solidFill>
                  <a:srgbClr val="647184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0584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1">
                <a:solidFill>
                  <a:srgbClr val="0F1E37"/>
                </a:solidFill>
                <a:latin typeface="Aptos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874519"/>
            <a:ext cx="2953512" cy="26289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Aptos"/>
              </a:rPr>
              <a:t>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7779" y="1958644"/>
            <a:ext cx="4256532" cy="147218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7779" y="1958644"/>
            <a:ext cx="3561440" cy="147218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0032" y="1874519"/>
            <a:ext cx="1303020" cy="26289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83.67%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225040"/>
            <a:ext cx="2953512" cy="26289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Aptos"/>
              </a:rPr>
              <a:t>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7779" y="2309164"/>
            <a:ext cx="4256532" cy="147218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7779" y="2309164"/>
            <a:ext cx="3731275" cy="147218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0032" y="2225040"/>
            <a:ext cx="1303020" cy="26289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87.66%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575560"/>
            <a:ext cx="2953512" cy="26289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Aptos"/>
              </a:rPr>
              <a:t>2025–2026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7779" y="2659684"/>
            <a:ext cx="4256532" cy="147218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97779" y="2659684"/>
            <a:ext cx="3582297" cy="147218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2575560"/>
            <a:ext cx="1303020" cy="26289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84.16%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91839"/>
            <a:ext cx="100584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1">
                <a:solidFill>
                  <a:srgbClr val="0F1E37"/>
                </a:solidFill>
                <a:latin typeface="Aptos"/>
              </a:rP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291839"/>
            <a:ext cx="2953512" cy="26289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Aptos"/>
              </a:rPr>
              <a:t>2023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97779" y="3375964"/>
            <a:ext cx="4256532" cy="147218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97779" y="3375964"/>
            <a:ext cx="3187716" cy="147218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3291839"/>
            <a:ext cx="1303020" cy="26289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74.89%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642359"/>
            <a:ext cx="2953512" cy="26289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Aptos"/>
              </a:rPr>
              <a:t>2024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97779" y="3726484"/>
            <a:ext cx="4256532" cy="147218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97779" y="3726484"/>
            <a:ext cx="3480991" cy="147218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2" y="3642359"/>
            <a:ext cx="1303020" cy="26289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81.78%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3992879"/>
            <a:ext cx="2953512" cy="26289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Aptos"/>
              </a:rPr>
              <a:t>2025–2026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97779" y="4077004"/>
            <a:ext cx="4256532" cy="147218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97779" y="4077004"/>
            <a:ext cx="3917286" cy="147218"/>
          </a:xfrm>
          <a:prstGeom prst="round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0032" y="3992879"/>
            <a:ext cx="1303020" cy="26289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92.03%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983480"/>
            <a:ext cx="4754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4983480"/>
            <a:ext cx="64008" cy="868680"/>
          </a:xfrm>
          <a:prstGeom prst="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074920"/>
            <a:ext cx="443484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SQL • 2025–2026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422392"/>
            <a:ext cx="4434840" cy="365759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84,16% entre respostas válidas (1.764 respostas “Utiliza”).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983480"/>
            <a:ext cx="4754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983480"/>
            <a:ext cx="64008" cy="868680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5074920"/>
            <a:ext cx="443484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Python • 2025–2026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422392"/>
            <a:ext cx="4434840" cy="365759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92,03% entre respostas válidas (1.929 respostas “Utiliza”).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647184"/>
                </a:solidFill>
                <a:latin typeface="Aptos"/>
              </a:rPr>
              <a:t>TECH CHALLENGE • STATE OF DATA BRASIL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1">
                <a:solidFill>
                  <a:srgbClr val="306FDC"/>
                </a:solidFill>
                <a:latin typeface="Aptos"/>
              </a:rPr>
              <a:t>09 • REMUNERAÇÃO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500" b="1">
                <a:solidFill>
                  <a:srgbClr val="0F1E37"/>
                </a:solidFill>
                <a:latin typeface="Aptos"/>
              </a:rPr>
              <a:t>A distribuição salarial deve ser lida por senioridade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9848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647184"/>
                </a:solidFill>
                <a:latin typeface="Aptos"/>
              </a:rPr>
              <a:t>Faixas salariais e percentuais sobre respostas válidas por nível.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02920" cy="41148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/>
            <a:r>
              <a:rPr sz="900" b="1">
                <a:solidFill>
                  <a:srgbClr val="647184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12064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Especialista/Staff+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1772107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232D3C"/>
                </a:solidFill>
                <a:latin typeface="Aptos"/>
              </a:rPr>
              <a:t>R$ 12.001/mês a R$ 16.000/m…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1468" y="2240280"/>
            <a:ext cx="2553919" cy="1600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01468" y="2240280"/>
            <a:ext cx="1902304" cy="160020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1107" y="2148840"/>
            <a:ext cx="781812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26.1%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29840"/>
            <a:ext cx="1772107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232D3C"/>
                </a:solidFill>
                <a:latin typeface="Aptos"/>
              </a:rPr>
              <a:t>R$ 16.001/mês a R$ 20.000/m…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1468" y="2621280"/>
            <a:ext cx="2553919" cy="1600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01468" y="2621280"/>
            <a:ext cx="1672452" cy="160020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1107" y="2529840"/>
            <a:ext cx="781812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22.9%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10840"/>
            <a:ext cx="1772107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232D3C"/>
                </a:solidFill>
                <a:latin typeface="Aptos"/>
              </a:rPr>
              <a:t>R$ 8.001/mês a R$ 12.000/mês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1468" y="3002280"/>
            <a:ext cx="2553919" cy="1600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01468" y="3002280"/>
            <a:ext cx="982894" cy="160020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1107" y="2910840"/>
            <a:ext cx="781812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13.5%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12064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Júnior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48840"/>
            <a:ext cx="1772107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232D3C"/>
                </a:solidFill>
                <a:latin typeface="Aptos"/>
              </a:rPr>
              <a:t>R$ 4.001/mês a R$ 6.000/mês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0748" y="2240280"/>
            <a:ext cx="2553919" cy="1600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70748" y="2240280"/>
            <a:ext cx="1718422" cy="160020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70387" y="2148840"/>
            <a:ext cx="781812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23.6%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529840"/>
            <a:ext cx="1772107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232D3C"/>
                </a:solidFill>
                <a:latin typeface="Aptos"/>
              </a:rPr>
              <a:t>R$ 1.001/mês a R$ 2.000/mês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0748" y="2621280"/>
            <a:ext cx="2553919" cy="1600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0748" y="2621280"/>
            <a:ext cx="1409033" cy="160020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70387" y="2529840"/>
            <a:ext cx="781812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19.3%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910840"/>
            <a:ext cx="1772107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232D3C"/>
                </a:solidFill>
                <a:latin typeface="Aptos"/>
              </a:rPr>
              <a:t>R$ 2.001/mês a R$ 3.000/mês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0748" y="3002280"/>
            <a:ext cx="2553919" cy="1600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70748" y="3002280"/>
            <a:ext cx="1380575" cy="160020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70387" y="2910840"/>
            <a:ext cx="781812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18.9%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611880"/>
            <a:ext cx="512064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Pleno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931920"/>
            <a:ext cx="1772107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232D3C"/>
                </a:solidFill>
                <a:latin typeface="Aptos"/>
              </a:rPr>
              <a:t>R$ 8.001/mês a R$ 12.000/mês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1468" y="4023359"/>
            <a:ext cx="2553919" cy="1600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01468" y="4023359"/>
            <a:ext cx="2220799" cy="160020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01107" y="3931920"/>
            <a:ext cx="781812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32.7%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312920"/>
            <a:ext cx="1772107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232D3C"/>
                </a:solidFill>
                <a:latin typeface="Aptos"/>
              </a:rPr>
              <a:t>R$ 6.001/mês a R$ 8.000/mês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01468" y="4404360"/>
            <a:ext cx="2553919" cy="1600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601468" y="4404360"/>
            <a:ext cx="1696302" cy="160020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01107" y="4312920"/>
            <a:ext cx="781812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25.0%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693920"/>
            <a:ext cx="1772107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232D3C"/>
                </a:solidFill>
                <a:latin typeface="Aptos"/>
              </a:rPr>
              <a:t>R$ 4.001/mês a R$ 6.000/mês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01468" y="4785359"/>
            <a:ext cx="2553919" cy="1600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601468" y="4785359"/>
            <a:ext cx="1416751" cy="160020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01107" y="4693920"/>
            <a:ext cx="781812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20.9%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11880"/>
            <a:ext cx="512064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Sênior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931920"/>
            <a:ext cx="1772107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232D3C"/>
                </a:solidFill>
                <a:latin typeface="Aptos"/>
              </a:rPr>
              <a:t>R$ 8.001/mês a R$ 12.000/mês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0748" y="4023359"/>
            <a:ext cx="2553919" cy="1600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70748" y="4023359"/>
            <a:ext cx="2220799" cy="160020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70387" y="3931920"/>
            <a:ext cx="781812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32.4%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312920"/>
            <a:ext cx="1772107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232D3C"/>
                </a:solidFill>
                <a:latin typeface="Aptos"/>
              </a:rPr>
              <a:t>R$ 12.001/mês a R$ 16.000/m…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70748" y="4404360"/>
            <a:ext cx="2553919" cy="1600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270748" y="4404360"/>
            <a:ext cx="1613506" cy="160020"/>
          </a:xfrm>
          <a:prstGeom prst="round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70387" y="4312920"/>
            <a:ext cx="781812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23.5%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4693920"/>
            <a:ext cx="1772107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232D3C"/>
                </a:solidFill>
                <a:latin typeface="Aptos"/>
              </a:rPr>
              <a:t>R$ 16.001/mês a R$ 20.000/m…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70748" y="4785359"/>
            <a:ext cx="2553919" cy="160020"/>
          </a:xfrm>
          <a:prstGeom prst="roundRect">
            <a:avLst/>
          </a:prstGeom>
          <a:solidFill>
            <a:srgbClr val="E2EAF5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270748" y="4785359"/>
            <a:ext cx="934929" cy="160020"/>
          </a:xfrm>
          <a:prstGeom prst="round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70387" y="4693920"/>
            <a:ext cx="781812" cy="28575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1">
                <a:solidFill>
                  <a:srgbClr val="0F1E37"/>
                </a:solidFill>
                <a:latin typeface="Aptos"/>
              </a:rPr>
              <a:t>13.6%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571500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0">
                <a:solidFill>
                  <a:srgbClr val="647184"/>
                </a:solidFill>
                <a:latin typeface="Aptos"/>
              </a:rPr>
              <a:t>A visualização utiliza a edição mais recente presente na tabela Gold (2025–2026, quando disponível).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647184"/>
                </a:solidFill>
                <a:latin typeface="Aptos"/>
              </a:rPr>
              <a:t>TECH CHALLENGE • STATE OF DATA BRASIL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1">
                <a:solidFill>
                  <a:srgbClr val="306FDC"/>
                </a:solidFill>
                <a:latin typeface="Aptos"/>
              </a:rPr>
              <a:t>10 • IMPLICAÇÕES PARA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500" b="1">
                <a:solidFill>
                  <a:srgbClr val="0F1E37"/>
                </a:solidFill>
                <a:latin typeface="Aptos"/>
              </a:rPr>
              <a:t>Como transformar os achados em decisões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69848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100" b="0">
                <a:solidFill>
                  <a:srgbClr val="647184"/>
                </a:solidFill>
                <a:latin typeface="Aptos"/>
              </a:rPr>
              <a:t>Recomendações analíticas para uma instituição financeira.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02920" cy="41148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/>
            <a:r>
              <a:rPr sz="900" b="1">
                <a:solidFill>
                  <a:srgbClr val="647184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1417320"/>
          </a:xfrm>
          <a:prstGeom prst="rect">
            <a:avLst/>
          </a:prstGeom>
          <a:solidFill>
            <a:srgbClr val="36BED2"/>
          </a:solidFill>
          <a:ln>
            <a:solidFill>
              <a:srgbClr val="3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154679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01 • Capacitação em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67712"/>
            <a:ext cx="3154679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Trilhas práticas sobre IA generativa, validação de resultados, segurança e uso responsável.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4008" cy="1417320"/>
          </a:xfrm>
          <a:prstGeom prst="rect">
            <a:avLst/>
          </a:prstGeom>
          <a:solidFill>
            <a:srgbClr val="306FDC"/>
          </a:solidFill>
          <a:ln>
            <a:solidFill>
              <a:srgbClr val="306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154679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02 • Dados e automação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67712"/>
            <a:ext cx="3154679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Priorizar Python e manter SQL como fundamento de acesso e transformação de dados.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1417320"/>
          </a:xfrm>
          <a:prstGeom prst="rect">
            <a:avLst/>
          </a:prstGeom>
          <a:solidFill>
            <a:srgbClr val="F09B40"/>
          </a:solidFill>
          <a:ln>
            <a:solidFill>
              <a:srgbClr val="F0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154679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03 • Governança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67712"/>
            <a:ext cx="3154679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Definir políticas para dados sensíveis, rastreabilidade, revisão humana e avaliação de risco.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657600"/>
            <a:ext cx="64008" cy="1325880"/>
          </a:xfrm>
          <a:prstGeom prst="rect">
            <a:avLst/>
          </a:prstGeom>
          <a:solidFill>
            <a:srgbClr val="1D9B8A"/>
          </a:solidFill>
          <a:ln>
            <a:solidFill>
              <a:srgbClr val="1D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49039"/>
            <a:ext cx="489204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04 • Pessoas e inclusão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96512"/>
            <a:ext cx="4892040" cy="822959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Considerar concentração regional e desequilíbrio de gênero ao planejar recrutamento e formação.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5760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657600"/>
            <a:ext cx="64008" cy="1325880"/>
          </a:xfrm>
          <a:prstGeom prst="rect">
            <a:avLst/>
          </a:prstGeom>
          <a:solidFill>
            <a:srgbClr val="D3525B"/>
          </a:solidFill>
          <a:ln>
            <a:solidFill>
              <a:srgbClr val="D3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49039"/>
            <a:ext cx="4892040" cy="29260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1">
                <a:solidFill>
                  <a:srgbClr val="0F1E37"/>
                </a:solidFill>
                <a:latin typeface="Aptos"/>
              </a:rPr>
              <a:t>05 • Medição contínua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96512"/>
            <a:ext cx="4892040" cy="822959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Aptos"/>
              </a:rPr>
              <a:t>Repetir indicadores com definições consistentes e monitorar taxas de resposta e adoção.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321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0">
                <a:solidFill>
                  <a:srgbClr val="647184"/>
                </a:solidFill>
                <a:latin typeface="Aptos"/>
              </a:rPr>
              <a:t>Estas recomendações são implicações analíticas, não relações causais demonstradas pela pesquisa.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800" b="0">
                <a:solidFill>
                  <a:srgbClr val="647184"/>
                </a:solidFill>
                <a:latin typeface="Aptos"/>
              </a:rPr>
              <a:t>TECH CHALLENGE • STATE OF DATA BRASIL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000" b="1">
                <a:solidFill>
                  <a:srgbClr val="36BED2"/>
                </a:solidFill>
                <a:latin typeface="Aptos"/>
              </a:rPr>
              <a:t>11 • CONCLUSÕES E 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Transformar dados em decisões exige contexto.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594360" cy="54864"/>
          </a:xfrm>
          <a:prstGeom prst="rect">
            <a:avLst/>
          </a:prstGeom>
          <a:solidFill>
            <a:srgbClr val="F09B40"/>
          </a:solidFill>
          <a:ln>
            <a:solidFill>
              <a:srgbClr val="F09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82880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1">
                <a:solidFill>
                  <a:srgbClr val="36BED2"/>
                </a:solidFill>
                <a:latin typeface="Aptos"/>
              </a:rPr>
              <a:t>Adoção de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31720"/>
            <a:ext cx="8412480" cy="43891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0">
                <a:solidFill>
                  <a:srgbClr val="DCE5F1"/>
                </a:solidFill>
                <a:latin typeface="Aptos"/>
              </a:rPr>
              <a:t>A tendência de alta é forte entre respostas válidas, mas a não resposta é relevante.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81527"/>
            <a:ext cx="182880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1">
                <a:solidFill>
                  <a:srgbClr val="36BED2"/>
                </a:solidFill>
                <a:latin typeface="Aptos"/>
              </a:rPr>
              <a:t>Tecnologias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081527"/>
            <a:ext cx="8412480" cy="43891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0">
                <a:solidFill>
                  <a:srgbClr val="DCE5F1"/>
                </a:solidFill>
                <a:latin typeface="Aptos"/>
              </a:rPr>
              <a:t>Python cresce e supera SQL na amostra mais recente; ambos seguem relevantes.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31335"/>
            <a:ext cx="182880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1">
                <a:solidFill>
                  <a:srgbClr val="36BED2"/>
                </a:solidFill>
                <a:latin typeface="Aptos"/>
              </a:rPr>
              <a:t>Representatividade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831335"/>
            <a:ext cx="8412480" cy="43891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0">
                <a:solidFill>
                  <a:srgbClr val="DCE5F1"/>
                </a:solidFill>
                <a:latin typeface="Aptos"/>
              </a:rPr>
              <a:t>A pesquisa descreve respondentes e não deve ser generalizada automaticamente para todo o mercado.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81144"/>
            <a:ext cx="1828800" cy="3200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1">
                <a:solidFill>
                  <a:srgbClr val="36BED2"/>
                </a:solidFill>
                <a:latin typeface="Aptos"/>
              </a:rPr>
              <a:t>Comparabilidade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581144"/>
            <a:ext cx="8412480" cy="43891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300" b="0">
                <a:solidFill>
                  <a:srgbClr val="DCE5F1"/>
                </a:solidFill>
                <a:latin typeface="Aptos"/>
              </a:rPr>
              <a:t>Questionários, amostras e denominadores podem influenciar diferenças entre edições.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900" b="0">
                <a:solidFill>
                  <a:srgbClr val="B9C7DB"/>
                </a:solidFill>
                <a:latin typeface="Aptos"/>
              </a:rPr>
              <a:t>Fonte: tabelas Gold do projeto, derivadas das pesquisas State of Data Brasil 2023, 2024 e 2025–2026.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Challenge AWS — State of Data Brasil</dc:title>
  <dc:subject>Análise dos indicadores Gold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